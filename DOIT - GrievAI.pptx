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Garet Bold" charset="1" panose="00000000000000000000"/>
      <p:regular r:id="rId29"/>
    </p:embeddedFont>
    <p:embeddedFont>
      <p:font typeface="DM Sans" charset="1" panose="00000000000000000000"/>
      <p:regular r:id="rId30"/>
    </p:embeddedFont>
    <p:embeddedFont>
      <p:font typeface="DM Sans Bold" charset="1" panose="00000000000000000000"/>
      <p:regular r:id="rId31"/>
    </p:embeddedFont>
    <p:embeddedFont>
      <p:font typeface="Canva Sans" charset="1" panose="020B0503030501040103"/>
      <p:regular r:id="rId32"/>
    </p:embeddedFont>
    <p:embeddedFont>
      <p:font typeface="Canva Sans Bold" charset="1" panose="020B08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13545" y="0"/>
            <a:ext cx="5474455" cy="10287000"/>
            <a:chOff x="0" y="0"/>
            <a:chExt cx="600513" cy="11284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513" cy="1128419"/>
            </a:xfrm>
            <a:custGeom>
              <a:avLst/>
              <a:gdLst/>
              <a:ahLst/>
              <a:cxnLst/>
              <a:rect r="r" b="b" t="t" l="l"/>
              <a:pathLst>
                <a:path h="1128419" w="600513">
                  <a:moveTo>
                    <a:pt x="0" y="0"/>
                  </a:moveTo>
                  <a:lnTo>
                    <a:pt x="600513" y="0"/>
                  </a:lnTo>
                  <a:lnTo>
                    <a:pt x="600513" y="1128419"/>
                  </a:lnTo>
                  <a:lnTo>
                    <a:pt x="0" y="1128419"/>
                  </a:lnTo>
                  <a:close/>
                </a:path>
              </a:pathLst>
            </a:custGeom>
            <a:blipFill>
              <a:blip r:embed="rId2"/>
              <a:stretch>
                <a:fillRect l="-43954" t="0" r="-4395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226546" y="5513595"/>
            <a:ext cx="7173997" cy="7173997"/>
          </a:xfrm>
          <a:custGeom>
            <a:avLst/>
            <a:gdLst/>
            <a:ahLst/>
            <a:cxnLst/>
            <a:rect r="r" b="b" t="t" l="l"/>
            <a:pathLst>
              <a:path h="7173997" w="7173997">
                <a:moveTo>
                  <a:pt x="0" y="0"/>
                </a:moveTo>
                <a:lnTo>
                  <a:pt x="7173997" y="0"/>
                </a:lnTo>
                <a:lnTo>
                  <a:pt x="7173997" y="7173997"/>
                </a:lnTo>
                <a:lnTo>
                  <a:pt x="0" y="7173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0345787" cy="6535731"/>
            <a:chOff x="0" y="0"/>
            <a:chExt cx="13794383" cy="871430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300"/>
              <a:ext cx="13794383" cy="7658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925"/>
                </a:lnSpc>
              </a:pPr>
              <a:r>
                <a:rPr lang="en-US" b="true" sz="8500" spc="-85">
                  <a:solidFill>
                    <a:srgbClr val="10111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GRIEVAI: DECENTRALIZED AI-POWERED GRIEVANCE REDRESSAL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018971"/>
              <a:ext cx="13794383" cy="695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798170"/>
            <a:ext cx="6814256" cy="5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7"/>
              </a:lnSpc>
            </a:pPr>
            <a:r>
              <a:rPr lang="en-US" sz="3160" spc="-31">
                <a:solidFill>
                  <a:srgbClr val="101112"/>
                </a:solidFill>
                <a:latin typeface="DM Sans"/>
                <a:ea typeface="DM Sans"/>
                <a:cs typeface="DM Sans"/>
                <a:sym typeface="DM Sans"/>
              </a:rPr>
              <a:t>TEAM – </a:t>
            </a:r>
            <a:r>
              <a:rPr lang="en-US" sz="3160" spc="-31" u="none">
                <a:solidFill>
                  <a:srgbClr val="101112"/>
                </a:solidFill>
                <a:latin typeface="DM Sans"/>
                <a:ea typeface="DM Sans"/>
                <a:cs typeface="DM Sans"/>
                <a:sym typeface="DM Sans"/>
              </a:rPr>
              <a:t>[DOIT]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Manual civic complaint redressal processes are often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inefficient and slow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, leading to frustration among citizens seeking timely resolutions.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lack of real-time insights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hinders authorities from effectively addressing issues, reducing accountability and transparency in governance.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4640083"/>
            <a:ext cx="3868596" cy="356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This results in a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disconnection between citizens and local government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, making it imperative to adopt innovative solutions for better engagement and responsiveness.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THE GAP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Many civic complaints remain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unaddressed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due to the lack of an efficient and centralized platform for reporting and tracking issues.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Without a real-time feedback loop, citizens feel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disconnected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from local governance, leading to frustration and a lack of engagement.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4640083"/>
            <a:ext cx="3868596" cy="356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The absence of urgency-based routing results in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delayed responses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, leaving critical issues unresolved and communities increasingly dissatisfied with service delivery.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OUR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GrievAI leverages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data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by fetching tweets related to civic issues, ensuring immediate attention and action.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Using advanced AI classification, we categorize complaints effectively, allowing for quick routing and resolution by moderators.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The integration with Supabase provides a robust infrastructure for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data storage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and management, enhancing user experience and reliability.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Our solution utilizes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AI classification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to intelligently sort civic complaints, enhancing the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efficiency of processing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and response times for users.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moderator panel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allows for seamless interaction, ensuring complaints are validated and prioritized based on urgency and community needs.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With real-time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analytics and SMS notifications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, users stay informed about their complaints, fostering a sense of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engagement and trust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in the system.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0928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34906" y="3160897"/>
            <a:ext cx="9803776" cy="5661681"/>
          </a:xfrm>
          <a:custGeom>
            <a:avLst/>
            <a:gdLst/>
            <a:ahLst/>
            <a:cxnLst/>
            <a:rect r="r" b="b" t="t" l="l"/>
            <a:pathLst>
              <a:path h="5661681" w="9803776">
                <a:moveTo>
                  <a:pt x="0" y="0"/>
                </a:moveTo>
                <a:lnTo>
                  <a:pt x="9803776" y="0"/>
                </a:lnTo>
                <a:lnTo>
                  <a:pt x="9803776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88556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62374"/>
            <a:ext cx="12914499" cy="6915167"/>
            <a:chOff x="0" y="0"/>
            <a:chExt cx="3401350" cy="1821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3293" y="2410008"/>
            <a:ext cx="11301259" cy="5466984"/>
          </a:xfrm>
          <a:custGeom>
            <a:avLst/>
            <a:gdLst/>
            <a:ahLst/>
            <a:cxnLst/>
            <a:rect r="r" b="b" t="t" l="l"/>
            <a:pathLst>
              <a:path h="5466984" w="11301259">
                <a:moveTo>
                  <a:pt x="0" y="0"/>
                </a:moveTo>
                <a:lnTo>
                  <a:pt x="11301259" y="0"/>
                </a:lnTo>
                <a:lnTo>
                  <a:pt x="11301259" y="5466984"/>
                </a:lnTo>
                <a:lnTo>
                  <a:pt x="0" y="546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 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2426941" y="201359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6" y="0"/>
                </a:lnTo>
                <a:lnTo>
                  <a:pt x="6915166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62374"/>
            <a:ext cx="12914499" cy="6915167"/>
            <a:chOff x="0" y="0"/>
            <a:chExt cx="3401350" cy="1821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2426941" y="201359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6" y="0"/>
                </a:lnTo>
                <a:lnTo>
                  <a:pt x="6915166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3293" y="2854995"/>
            <a:ext cx="11301259" cy="4577010"/>
          </a:xfrm>
          <a:custGeom>
            <a:avLst/>
            <a:gdLst/>
            <a:ahLst/>
            <a:cxnLst/>
            <a:rect r="r" b="b" t="t" l="l"/>
            <a:pathLst>
              <a:path h="4577010" w="11301259">
                <a:moveTo>
                  <a:pt x="0" y="0"/>
                </a:moveTo>
                <a:lnTo>
                  <a:pt x="11301259" y="0"/>
                </a:lnTo>
                <a:lnTo>
                  <a:pt x="11301259" y="4577010"/>
                </a:lnTo>
                <a:lnTo>
                  <a:pt x="0" y="4577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54650" y="4358947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83614" y="-9264212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271580" y="2639813"/>
          <a:ext cx="6314280" cy="7100596"/>
        </p:xfrm>
        <a:graphic>
          <a:graphicData uri="http://schemas.openxmlformats.org/drawingml/2006/table">
            <a:tbl>
              <a:tblPr/>
              <a:tblGrid>
                <a:gridCol w="2773296"/>
                <a:gridCol w="2712506"/>
              </a:tblGrid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WALLET CONNECTION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METAMASK, WALLETCONNECT, ETHERS.JS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COMPLAINT SUBMISSION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REACT, TAILWINDCSS, IPFS, ZOD, FORMIK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HUGGING FACE, TENSORFLOW.JS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SMART CONTRACT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SOLIDITY, HARDHAT, FOUNDRY, OPENZEPPELIN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652942" y="2639813"/>
          <a:ext cx="6130625" cy="7100596"/>
        </p:xfrm>
        <a:graphic>
          <a:graphicData uri="http://schemas.openxmlformats.org/drawingml/2006/table">
            <a:tbl>
              <a:tblPr/>
              <a:tblGrid>
                <a:gridCol w="3045276"/>
                <a:gridCol w="3085349"/>
              </a:tblGrid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GOVERNANCE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SNAPSHOT, OPENZEPPELIN GOVERNOR,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ANALYTICS &amp; 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RECHARTS, REDUX, WEBSOCKET, SENTRY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STORAGE &amp; INDEXING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IPFS/WEB3.STORAGE, CERAMIC, THE GRAPH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  <a:tr h="1775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DEPLOYMENT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GITHUB ACTIONS, VERCEL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52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504871"/>
            <a:ext cx="1106327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333652"/>
                </a:solidFill>
                <a:latin typeface="Garet Bold"/>
                <a:ea typeface="Garet Bold"/>
                <a:cs typeface="Garet Bold"/>
                <a:sym typeface="Garet Bold"/>
              </a:rPr>
              <a:t>TECH STACK OVERVIEW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UI SHOWCASE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5311596"/>
            <a:ext cx="3868596" cy="222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Our platform features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auto-fetched tweets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that provide insights into real-time civic complaints directly from social media.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The AI Score indicates the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relevance and urgency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of each complaint, ensuring prioritization for effective responses from moderators.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Map View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visually represents complaints, while the Approval Feed and SMS Logs streamline communication and tracking of issues reported.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USE CASES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Our platform effectively addresses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garbage collection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issues by allowing citizens to report problems via tweets, enhancing response times significantly.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By monitoring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flooding alerts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, GrievAI provides real-time insights to local authorities, ensuring timely interventions and improved community safety.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4640083"/>
            <a:ext cx="3868596" cy="356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Infrastructure complaints are streamlined through our dashboard, enabling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faster resolutions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and promoting trust between citizens and civic bodies with transparent processes.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Integrating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voice input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will enhance user experience by allowing hands-free interaction, making it easier to report grievances efficiently.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Implementing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Mapbox clustering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will improve visibility of complaints, allowing users to navigate issues in their locality more effectively.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Introducing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AI moderation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and role-based access will ensure a secure and streamlined process for managing complaints and user interactions.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627891" y="-7544833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32641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AutoShape 5" id="5"/>
          <p:cNvSpPr/>
          <p:nvPr/>
        </p:nvSpPr>
        <p:spPr>
          <a:xfrm rot="0">
            <a:off x="12236582" y="4172544"/>
            <a:ext cx="4877563" cy="6351041"/>
          </a:xfrm>
          <a:prstGeom prst="rect">
            <a:avLst/>
          </a:prstGeom>
          <a:solidFill>
            <a:srgbClr val="33365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1114425"/>
            <a:ext cx="7184646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5"/>
              </a:lnSpc>
            </a:pPr>
            <a:r>
              <a:rPr lang="en-US" b="true" sz="6500" spc="-65">
                <a:solidFill>
                  <a:srgbClr val="101112"/>
                </a:solidFill>
                <a:latin typeface="Garet Bold"/>
                <a:ea typeface="Garet Bold"/>
                <a:cs typeface="Garet Bold"/>
                <a:sym typeface="Garet Bold"/>
              </a:rPr>
              <a:t>REAL-WORLD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8338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Faster surfacing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of complaints enables timely responses, enhancing community engagement and ensuring that issues are addressed promptly.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702" y="5087758"/>
            <a:ext cx="3868596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By providing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verified complaints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, trust between citizens and authorities is strengthened, leading to increased participation in civic processes.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3643" y="4863921"/>
            <a:ext cx="3868596" cy="3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The platform's </a:t>
            </a:r>
            <a:r>
              <a:rPr lang="en-US" b="true" sz="2500" spc="-25" u="none">
                <a:solidFill>
                  <a:srgbClr val="F5F6F7"/>
                </a:solidFill>
                <a:latin typeface="DM Sans Bold"/>
                <a:ea typeface="DM Sans Bold"/>
                <a:cs typeface="DM Sans Bold"/>
                <a:sym typeface="DM Sans Bold"/>
              </a:rPr>
              <a:t>easy integration</a:t>
            </a:r>
            <a:r>
              <a:rPr lang="en-US" sz="2500" spc="-25" u="none">
                <a:solidFill>
                  <a:srgbClr val="F5F6F7"/>
                </a:solidFill>
                <a:latin typeface="DM Sans"/>
                <a:ea typeface="DM Sans"/>
                <a:cs typeface="DM Sans"/>
                <a:sym typeface="DM Sans"/>
              </a:rPr>
              <a:t> with existing systems allows seamless adoption, ensuring that stakeholders can leverage its benefits without disruption.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36335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7927" y="3042122"/>
            <a:ext cx="11301259" cy="5933161"/>
          </a:xfrm>
          <a:custGeom>
            <a:avLst/>
            <a:gdLst/>
            <a:ahLst/>
            <a:cxnLst/>
            <a:rect r="r" b="b" t="t" l="l"/>
            <a:pathLst>
              <a:path h="5933161" w="11301259">
                <a:moveTo>
                  <a:pt x="0" y="0"/>
                </a:moveTo>
                <a:lnTo>
                  <a:pt x="11301259" y="0"/>
                </a:lnTo>
                <a:lnTo>
                  <a:pt x="11301259" y="5933161"/>
                </a:lnTo>
                <a:lnTo>
                  <a:pt x="0" y="5933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72761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6156" y="3289787"/>
            <a:ext cx="9636238" cy="5685380"/>
          </a:xfrm>
          <a:custGeom>
            <a:avLst/>
            <a:gdLst/>
            <a:ahLst/>
            <a:cxnLst/>
            <a:rect r="r" b="b" t="t" l="l"/>
            <a:pathLst>
              <a:path h="5685380" w="9636238">
                <a:moveTo>
                  <a:pt x="0" y="0"/>
                </a:moveTo>
                <a:lnTo>
                  <a:pt x="9636237" y="0"/>
                </a:lnTo>
                <a:lnTo>
                  <a:pt x="9636237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36335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3998" y="3003967"/>
            <a:ext cx="11301259" cy="5975541"/>
          </a:xfrm>
          <a:custGeom>
            <a:avLst/>
            <a:gdLst/>
            <a:ahLst/>
            <a:cxnLst/>
            <a:rect r="r" b="b" t="t" l="l"/>
            <a:pathLst>
              <a:path h="5975541" w="11301259">
                <a:moveTo>
                  <a:pt x="0" y="0"/>
                </a:moveTo>
                <a:lnTo>
                  <a:pt x="11301259" y="0"/>
                </a:lnTo>
                <a:lnTo>
                  <a:pt x="11301259" y="5975541"/>
                </a:lnTo>
                <a:lnTo>
                  <a:pt x="0" y="5975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821" y="3443278"/>
            <a:ext cx="11301259" cy="5029060"/>
          </a:xfrm>
          <a:custGeom>
            <a:avLst/>
            <a:gdLst/>
            <a:ahLst/>
            <a:cxnLst/>
            <a:rect r="r" b="b" t="t" l="l"/>
            <a:pathLst>
              <a:path h="5029060" w="11301259">
                <a:moveTo>
                  <a:pt x="0" y="0"/>
                </a:moveTo>
                <a:lnTo>
                  <a:pt x="11301259" y="0"/>
                </a:lnTo>
                <a:lnTo>
                  <a:pt x="11301259" y="5029060"/>
                </a:lnTo>
                <a:lnTo>
                  <a:pt x="0" y="5029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2751849" y="28785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63826" y="2827293"/>
            <a:ext cx="12914499" cy="6915167"/>
            <a:chOff x="0" y="0"/>
            <a:chExt cx="3401350" cy="18212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88821" y="3144707"/>
            <a:ext cx="11301259" cy="5975541"/>
          </a:xfrm>
          <a:custGeom>
            <a:avLst/>
            <a:gdLst/>
            <a:ahLst/>
            <a:cxnLst/>
            <a:rect r="r" b="b" t="t" l="l"/>
            <a:pathLst>
              <a:path h="5975541" w="11301259">
                <a:moveTo>
                  <a:pt x="0" y="0"/>
                </a:moveTo>
                <a:lnTo>
                  <a:pt x="11301259" y="0"/>
                </a:lnTo>
                <a:lnTo>
                  <a:pt x="11301259" y="5975540"/>
                </a:lnTo>
                <a:lnTo>
                  <a:pt x="0" y="5975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36335" y="2685807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7927" y="3028481"/>
            <a:ext cx="11301259" cy="6229819"/>
          </a:xfrm>
          <a:custGeom>
            <a:avLst/>
            <a:gdLst/>
            <a:ahLst/>
            <a:cxnLst/>
            <a:rect r="r" b="b" t="t" l="l"/>
            <a:pathLst>
              <a:path h="6229819" w="11301259">
                <a:moveTo>
                  <a:pt x="0" y="0"/>
                </a:moveTo>
                <a:lnTo>
                  <a:pt x="11301259" y="0"/>
                </a:lnTo>
                <a:lnTo>
                  <a:pt x="11301259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3826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22751" y="3672398"/>
            <a:ext cx="11301259" cy="5283339"/>
          </a:xfrm>
          <a:custGeom>
            <a:avLst/>
            <a:gdLst/>
            <a:ahLst/>
            <a:cxnLst/>
            <a:rect r="r" b="b" t="t" l="l"/>
            <a:pathLst>
              <a:path h="5283339" w="11301259">
                <a:moveTo>
                  <a:pt x="0" y="0"/>
                </a:moveTo>
                <a:lnTo>
                  <a:pt x="11301259" y="0"/>
                </a:lnTo>
                <a:lnTo>
                  <a:pt x="11301259" y="5283339"/>
                </a:lnTo>
                <a:lnTo>
                  <a:pt x="0" y="5283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3826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3998" y="3511997"/>
            <a:ext cx="11301259" cy="5240959"/>
          </a:xfrm>
          <a:custGeom>
            <a:avLst/>
            <a:gdLst/>
            <a:ahLst/>
            <a:cxnLst/>
            <a:rect r="r" b="b" t="t" l="l"/>
            <a:pathLst>
              <a:path h="5240959" w="11301259">
                <a:moveTo>
                  <a:pt x="0" y="0"/>
                </a:moveTo>
                <a:lnTo>
                  <a:pt x="11301259" y="0"/>
                </a:lnTo>
                <a:lnTo>
                  <a:pt x="11301259" y="5240959"/>
                </a:lnTo>
                <a:lnTo>
                  <a:pt x="0" y="524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599449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3826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9174" y="3535101"/>
            <a:ext cx="11301259" cy="4845415"/>
          </a:xfrm>
          <a:custGeom>
            <a:avLst/>
            <a:gdLst/>
            <a:ahLst/>
            <a:cxnLst/>
            <a:rect r="r" b="b" t="t" l="l"/>
            <a:pathLst>
              <a:path h="4845415" w="11301259">
                <a:moveTo>
                  <a:pt x="0" y="0"/>
                </a:moveTo>
                <a:lnTo>
                  <a:pt x="11301259" y="0"/>
                </a:lnTo>
                <a:lnTo>
                  <a:pt x="11301259" y="4845414"/>
                </a:lnTo>
                <a:lnTo>
                  <a:pt x="0" y="484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312992" y="2726117"/>
            <a:ext cx="6915167" cy="6812720"/>
          </a:xfrm>
          <a:custGeom>
            <a:avLst/>
            <a:gdLst/>
            <a:ahLst/>
            <a:cxnLst/>
            <a:rect r="r" b="b" t="t" l="l"/>
            <a:pathLst>
              <a:path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76178" y="2674893"/>
            <a:ext cx="12914499" cy="6915167"/>
            <a:chOff x="0" y="0"/>
            <a:chExt cx="3401350" cy="18212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1349" cy="1821279"/>
            </a:xfrm>
            <a:custGeom>
              <a:avLst/>
              <a:gdLst/>
              <a:ahLst/>
              <a:cxnLst/>
              <a:rect r="r" b="b" t="t" l="l"/>
              <a:pathLst>
                <a:path h="1821279" w="3401349">
                  <a:moveTo>
                    <a:pt x="0" y="0"/>
                  </a:moveTo>
                  <a:lnTo>
                    <a:pt x="3401349" y="0"/>
                  </a:lnTo>
                  <a:lnTo>
                    <a:pt x="3401349" y="1821279"/>
                  </a:lnTo>
                  <a:lnTo>
                    <a:pt x="0" y="182127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01350" cy="1868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22751" y="3528037"/>
            <a:ext cx="11301259" cy="4859541"/>
          </a:xfrm>
          <a:custGeom>
            <a:avLst/>
            <a:gdLst/>
            <a:ahLst/>
            <a:cxnLst/>
            <a:rect r="r" b="b" t="t" l="l"/>
            <a:pathLst>
              <a:path h="4859541" w="11301259">
                <a:moveTo>
                  <a:pt x="0" y="0"/>
                </a:moveTo>
                <a:lnTo>
                  <a:pt x="11301259" y="0"/>
                </a:lnTo>
                <a:lnTo>
                  <a:pt x="11301259" y="4859542"/>
                </a:lnTo>
                <a:lnTo>
                  <a:pt x="0" y="4859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293" y="698018"/>
            <a:ext cx="11834871" cy="72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8"/>
              </a:lnSpc>
            </a:pPr>
            <a:r>
              <a:rPr lang="en-US" b="true" sz="5217" spc="-52">
                <a:solidFill>
                  <a:srgbClr val="F5F6F7"/>
                </a:solidFill>
                <a:latin typeface="Garet Bold"/>
                <a:ea typeface="Garet Bold"/>
                <a:cs typeface="Garet Bold"/>
                <a:sym typeface="Garet Bold"/>
              </a:rPr>
              <a:t>SCREENSHOTS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6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10110" y="-9603028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98536" y="5459695"/>
            <a:ext cx="14897010" cy="14897010"/>
          </a:xfrm>
          <a:custGeom>
            <a:avLst/>
            <a:gdLst/>
            <a:ahLst/>
            <a:cxnLst/>
            <a:rect r="r" b="b" t="t" l="l"/>
            <a:pathLst>
              <a:path h="14897010" w="14897010">
                <a:moveTo>
                  <a:pt x="0" y="0"/>
                </a:moveTo>
                <a:lnTo>
                  <a:pt x="14897010" y="0"/>
                </a:lnTo>
                <a:lnTo>
                  <a:pt x="14897010" y="14897010"/>
                </a:lnTo>
                <a:lnTo>
                  <a:pt x="0" y="14897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18753" y="3788781"/>
            <a:ext cx="18288000" cy="211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b="true" sz="6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 WITH LOVE, CODE, AND A DASH OF DECENTRALIZATION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GrievAI – Civic Grievance Dashboard</dc:description>
  <dc:identifier>DAGtBd52Ack</dc:identifier>
  <dcterms:modified xsi:type="dcterms:W3CDTF">2011-08-01T06:04:30Z</dcterms:modified>
  <cp:revision>1</cp:revision>
  <dc:title>Presentation - GrievAI – Civic Grievance Dashboard</dc:title>
</cp:coreProperties>
</file>